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satOff val="1848"/>
              <a:lumOff val="-15262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5E6E5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A5F5E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BEBEB"/>
          </a:solidFill>
        </a:fill>
      </a:tcStyle>
    </a:band2H>
    <a:firstCo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E5E6E5"/>
          </a:solidFill>
        </a:fill>
      </a:tcStyle>
    </a:firstCol>
    <a:la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lastRow>
    <a:fir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A5F5E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A5F5E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73100" y="2870200"/>
            <a:ext cx="23050500" cy="45593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673100" y="7416800"/>
            <a:ext cx="23050500" cy="1816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idx="21"/>
          </p:nvPr>
        </p:nvSpPr>
        <p:spPr>
          <a:xfrm>
            <a:off x="4280774" y="-1688429"/>
            <a:ext cx="15829857" cy="118491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387600" y="9728200"/>
            <a:ext cx="19621500" cy="18034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2387600" y="11518900"/>
            <a:ext cx="19621500" cy="16002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673100" y="4572000"/>
            <a:ext cx="23050500" cy="45593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idx="21"/>
          </p:nvPr>
        </p:nvSpPr>
        <p:spPr>
          <a:xfrm>
            <a:off x="10590462" y="1511300"/>
            <a:ext cx="13644824" cy="1212873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673100" y="1435100"/>
            <a:ext cx="11049000" cy="5461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673100" y="6870700"/>
            <a:ext cx="11049000" cy="5461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736600" indent="-736600">
              <a:lnSpc>
                <a:spcPct val="120000"/>
              </a:lnSpc>
              <a:spcBef>
                <a:spcPts val="6500"/>
              </a:spcBef>
              <a:defRPr sz="6400"/>
            </a:lvl1pPr>
            <a:lvl2pPr marL="1473200" indent="-736600">
              <a:lnSpc>
                <a:spcPct val="120000"/>
              </a:lnSpc>
              <a:spcBef>
                <a:spcPts val="6500"/>
              </a:spcBef>
              <a:defRPr sz="6400"/>
            </a:lvl2pPr>
            <a:lvl3pPr marL="2209800" indent="-736600">
              <a:lnSpc>
                <a:spcPct val="120000"/>
              </a:lnSpc>
              <a:spcBef>
                <a:spcPts val="6500"/>
              </a:spcBef>
              <a:defRPr sz="6400"/>
            </a:lvl3pPr>
            <a:lvl4pPr marL="2946400" indent="-736600">
              <a:lnSpc>
                <a:spcPct val="120000"/>
              </a:lnSpc>
              <a:spcBef>
                <a:spcPts val="6500"/>
              </a:spcBef>
              <a:defRPr sz="6400"/>
            </a:lvl4pPr>
            <a:lvl5pPr marL="3683000" indent="-736600">
              <a:lnSpc>
                <a:spcPct val="120000"/>
              </a:lnSpc>
              <a:spcBef>
                <a:spcPts val="6500"/>
              </a:spcBef>
              <a:defRPr sz="6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sz="half" idx="21"/>
          </p:nvPr>
        </p:nvSpPr>
        <p:spPr>
          <a:xfrm>
            <a:off x="11814854" y="3230211"/>
            <a:ext cx="11753235" cy="1044731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673100" y="3835400"/>
            <a:ext cx="11049000" cy="8864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1435100" y="1066800"/>
            <a:ext cx="21501100" cy="11557000"/>
          </a:xfrm>
          <a:prstGeom prst="rect">
            <a:avLst/>
          </a:prstGeom>
        </p:spPr>
        <p:txBody>
          <a:bodyPr/>
          <a:lstStyle>
            <a:lvl1pPr marL="736600" indent="-736600">
              <a:lnSpc>
                <a:spcPct val="120000"/>
              </a:lnSpc>
              <a:spcBef>
                <a:spcPts val="6500"/>
              </a:spcBef>
              <a:defRPr sz="6400"/>
            </a:lvl1pPr>
            <a:lvl2pPr marL="1473200" indent="-736600">
              <a:lnSpc>
                <a:spcPct val="120000"/>
              </a:lnSpc>
              <a:spcBef>
                <a:spcPts val="6500"/>
              </a:spcBef>
              <a:defRPr sz="6400"/>
            </a:lvl2pPr>
            <a:lvl3pPr marL="2209800" indent="-736600">
              <a:lnSpc>
                <a:spcPct val="120000"/>
              </a:lnSpc>
              <a:spcBef>
                <a:spcPts val="6500"/>
              </a:spcBef>
              <a:defRPr sz="6400"/>
            </a:lvl3pPr>
            <a:lvl4pPr marL="2946400" indent="-736600">
              <a:lnSpc>
                <a:spcPct val="120000"/>
              </a:lnSpc>
              <a:spcBef>
                <a:spcPts val="6500"/>
              </a:spcBef>
              <a:defRPr sz="6400"/>
            </a:lvl4pPr>
            <a:lvl5pPr marL="3683000" indent="-736600">
              <a:lnSpc>
                <a:spcPct val="120000"/>
              </a:lnSpc>
              <a:spcBef>
                <a:spcPts val="6500"/>
              </a:spcBef>
              <a:defRPr sz="6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2-033_1302x975.jpeg"/>
          <p:cNvSpPr/>
          <p:nvPr>
            <p:ph type="pic" sz="half" idx="21"/>
          </p:nvPr>
        </p:nvSpPr>
        <p:spPr>
          <a:xfrm>
            <a:off x="12407900" y="5715000"/>
            <a:ext cx="11023600" cy="8255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half" idx="22"/>
          </p:nvPr>
        </p:nvSpPr>
        <p:spPr>
          <a:xfrm>
            <a:off x="12420600" y="-673100"/>
            <a:ext cx="11023600" cy="8255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2-10-superquadro_1631x2178.jpeg"/>
          <p:cNvSpPr/>
          <p:nvPr>
            <p:ph type="pic" idx="23"/>
          </p:nvPr>
        </p:nvSpPr>
        <p:spPr>
          <a:xfrm>
            <a:off x="-825499" y="-2108200"/>
            <a:ext cx="13804901" cy="1844321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2387600" y="8001000"/>
            <a:ext cx="19621500" cy="6477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2374900" y="5892800"/>
            <a:ext cx="19621500" cy="850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pPr/>
            <a:r>
              <a:t>“Type a quote here.”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21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73100" y="355600"/>
            <a:ext cx="230505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73100" y="3835400"/>
            <a:ext cx="23050500" cy="886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76100" y="13081000"/>
            <a:ext cx="419100" cy="457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0" strike="noStrike" sz="100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9pPr>
    </p:titleStyle>
    <p:bodyStyle>
      <a:lvl1pPr marL="5842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1pPr>
      <a:lvl2pPr marL="11684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2pPr>
      <a:lvl3pPr marL="17526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3pPr>
      <a:lvl4pPr marL="23368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4pPr>
      <a:lvl5pPr marL="29210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5pPr>
      <a:lvl6pPr marL="35052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6pPr>
      <a:lvl7pPr marL="40894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7pPr>
      <a:lvl8pPr marL="46736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8pPr>
      <a:lvl9pPr marL="52578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Ora2pg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Ora2pg</a:t>
            </a:r>
          </a:p>
        </p:txBody>
      </p:sp>
      <p:sp>
        <p:nvSpPr>
          <p:cNvPr id="120" name="Demo, difficulties, architecture and mor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u="sng"/>
            </a:lvl1pPr>
          </a:lstStyle>
          <a:p>
            <a:pPr/>
            <a:r>
              <a:t>Demo, difficulties, architecture and more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Demo (DB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 (DB)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Logic is simple:…"/>
          <p:cNvSpPr txBox="1"/>
          <p:nvPr>
            <p:ph type="body" sz="quarter" idx="1"/>
          </p:nvPr>
        </p:nvSpPr>
        <p:spPr>
          <a:xfrm>
            <a:off x="2381250" y="8964765"/>
            <a:ext cx="19621500" cy="3330270"/>
          </a:xfrm>
          <a:prstGeom prst="rect">
            <a:avLst/>
          </a:prstGeom>
        </p:spPr>
        <p:txBody>
          <a:bodyPr/>
          <a:lstStyle/>
          <a:p>
            <a:pPr algn="l"/>
            <a:r>
              <a:t>Logic is simple:</a:t>
            </a:r>
          </a:p>
          <a:p>
            <a:pPr marL="598487" indent="-598487" algn="l">
              <a:buClr>
                <a:srgbClr val="535353"/>
              </a:buClr>
              <a:buSzPct val="82000"/>
              <a:buChar char="•"/>
            </a:pPr>
            <a:r>
              <a:t>Oracle: 0.1 billion records, 50+ GB data</a:t>
            </a:r>
          </a:p>
          <a:p>
            <a:pPr marL="598487" indent="-598487" algn="l">
              <a:buClr>
                <a:srgbClr val="535353"/>
              </a:buClr>
              <a:buSzPct val="82000"/>
              <a:buChar char="•"/>
            </a:pPr>
            <a:r>
              <a:t>Need to copy data from oracle to Postgres</a:t>
            </a:r>
          </a:p>
          <a:p>
            <a:pPr marL="598487" indent="-598487" algn="l">
              <a:buClr>
                <a:srgbClr val="535353"/>
              </a:buClr>
              <a:buSzPct val="82000"/>
              <a:buChar char="•"/>
            </a:pPr>
            <a:r>
              <a:t>Keep monitoring db changes &amp; perform CRUD operations</a:t>
            </a:r>
          </a:p>
        </p:txBody>
      </p:sp>
      <p:pic>
        <p:nvPicPr>
          <p:cNvPr id="125" name="chaibahmtixydrh0moqi.jpeg" descr="chaibahmtixydrh0moqi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39201" y="1578047"/>
            <a:ext cx="12518298" cy="65721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omponents and architec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Components and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Untitled.png" descr="Untitled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60304" y="1155570"/>
            <a:ext cx="14663392" cy="114048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&lt;Main migration program&gt;"/>
          <p:cNvSpPr txBox="1"/>
          <p:nvPr>
            <p:ph type="title"/>
          </p:nvPr>
        </p:nvSpPr>
        <p:spPr>
          <a:prstGeom prst="rect">
            <a:avLst/>
          </a:prstGeom>
          <a:solidFill>
            <a:schemeClr val="accent6">
              <a:hueOff val="-193447"/>
              <a:satOff val="3713"/>
              <a:lumOff val="11329"/>
            </a:schemeClr>
          </a:solidFill>
        </p:spPr>
        <p:txBody>
          <a:bodyPr/>
          <a:lstStyle>
            <a:lvl1pPr>
              <a:defRPr cap="none" sz="5000">
                <a:solidFill>
                  <a:srgbClr val="FFFFFF"/>
                </a:solidFill>
              </a:defRPr>
            </a:lvl1pPr>
          </a:lstStyle>
          <a:p>
            <a:pPr/>
            <a:r>
              <a:t>&lt;Main migration program&gt;</a:t>
            </a:r>
          </a:p>
        </p:txBody>
      </p:sp>
      <p:sp>
        <p:nvSpPr>
          <p:cNvPr id="132" name="Repo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Repo: </a:t>
            </a:r>
          </a:p>
          <a:p>
            <a:pPr/>
            <a:r>
              <a:t>How to run:  ./dev copy | finalize | clean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&lt;Generator&gt;"/>
          <p:cNvSpPr txBox="1"/>
          <p:nvPr>
            <p:ph type="title"/>
          </p:nvPr>
        </p:nvSpPr>
        <p:spPr>
          <a:prstGeom prst="rect">
            <a:avLst/>
          </a:prstGeom>
          <a:solidFill>
            <a:schemeClr val="accent6">
              <a:hueOff val="-193447"/>
              <a:satOff val="3713"/>
              <a:lumOff val="11329"/>
            </a:schemeClr>
          </a:solidFill>
        </p:spPr>
        <p:txBody>
          <a:bodyPr/>
          <a:lstStyle>
            <a:lvl1pPr>
              <a:defRPr cap="none" sz="5000">
                <a:solidFill>
                  <a:srgbClr val="FFFFFF"/>
                </a:solidFill>
              </a:defRPr>
            </a:lvl1pPr>
          </a:lstStyle>
          <a:p>
            <a:pPr/>
            <a:r>
              <a:t>&lt;Generator&gt;</a:t>
            </a:r>
          </a:p>
        </p:txBody>
      </p:sp>
      <p:sp>
        <p:nvSpPr>
          <p:cNvPr id="135" name="Repo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52450" indent="-552450" defTabSz="619125">
              <a:spcBef>
                <a:spcPts val="4800"/>
              </a:spcBef>
              <a:defRPr sz="4800"/>
            </a:pPr>
            <a:r>
              <a:t>Repo:</a:t>
            </a:r>
          </a:p>
          <a:p>
            <a:pPr marL="552450" indent="-552450" defTabSz="619125">
              <a:spcBef>
                <a:spcPts val="4800"/>
              </a:spcBef>
              <a:defRPr sz="4800"/>
            </a:pPr>
            <a:r>
              <a:t>URL: </a:t>
            </a:r>
          </a:p>
          <a:p>
            <a:pPr marL="552450" indent="-552450" defTabSz="619125">
              <a:spcBef>
                <a:spcPts val="4800"/>
              </a:spcBef>
              <a:defRPr sz="4800"/>
            </a:pPr>
            <a:r>
              <a:t>How to run (API call): </a:t>
            </a:r>
          </a:p>
          <a:p>
            <a:pPr lvl="1" marL="1104900" indent="-552450" defTabSz="619125">
              <a:spcBef>
                <a:spcPts val="4800"/>
              </a:spcBef>
              <a:defRPr sz="3600"/>
            </a:pPr>
            <a:r>
              <a:t>/loadschema</a:t>
            </a:r>
          </a:p>
          <a:p>
            <a:pPr lvl="1" marL="1104900" indent="-552450" defTabSz="619125">
              <a:spcBef>
                <a:spcPts val="4800"/>
              </a:spcBef>
              <a:defRPr sz="3600"/>
            </a:pPr>
            <a:r>
              <a:t>/droprowid</a:t>
            </a:r>
          </a:p>
          <a:p>
            <a:pPr lvl="1" marL="1104900" indent="-552450" defTabSz="619125">
              <a:spcBef>
                <a:spcPts val="4800"/>
              </a:spcBef>
              <a:defRPr sz="3600"/>
            </a:pPr>
            <a:r>
              <a:t>/index</a:t>
            </a:r>
          </a:p>
          <a:p>
            <a:pPr lvl="1" marL="1104900" indent="-552450" defTabSz="619125">
              <a:spcBef>
                <a:spcPts val="4800"/>
              </a:spcBef>
              <a:defRPr sz="3600"/>
            </a:pPr>
            <a:r>
              <a:t>/constraint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Difficult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Difficulties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How to create a good sql dump file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cap="none" sz="5200"/>
            </a:lvl1pPr>
          </a:lstStyle>
          <a:p>
            <a:pPr/>
            <a:r>
              <a:t>How to create a good sql dump file?</a:t>
            </a:r>
          </a:p>
        </p:txBody>
      </p:sp>
      <p:sp>
        <p:nvSpPr>
          <p:cNvPr id="140" name="We fresh installed a new confluence, installed all plugins we have in prd confluence and then generate the sql fil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fresh installed a new confluence, installed all plugins we have in prd confluence and then generate the sql file</a:t>
            </a:r>
          </a:p>
          <a:p>
            <a:pPr/>
            <a:r>
              <a:t>URL: </a:t>
            </a:r>
          </a:p>
        </p:txBody>
      </p:sp>
      <p:pic>
        <p:nvPicPr>
          <p:cNvPr id="141" name="database-clones.png" descr="database-clone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497805" y="7680180"/>
            <a:ext cx="8793181" cy="65967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erformance: 1+ weeks -&gt; 3 hou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cap="none" sz="5200"/>
            </a:lvl1pPr>
          </a:lstStyle>
          <a:p>
            <a:pPr/>
            <a:r>
              <a:t>Performance: 1+ weeks -&gt; 3 hours</a:t>
            </a:r>
          </a:p>
        </p:txBody>
      </p:sp>
      <p:sp>
        <p:nvSpPr>
          <p:cNvPr id="144" name="Connection pooling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Connection pooling</a:t>
            </a:r>
          </a:p>
          <a:p>
            <a:pPr/>
            <a:r>
              <a:t>Threads</a:t>
            </a:r>
          </a:p>
          <a:p>
            <a:pPr/>
            <a:r>
              <a:t>Rowid based pagination</a:t>
            </a:r>
          </a:p>
        </p:txBody>
      </p:sp>
      <p:pic>
        <p:nvPicPr>
          <p:cNvPr id="145" name="PerformancewSpace.png" descr="PerformancewSpac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075237" y="9151455"/>
            <a:ext cx="5407823" cy="43262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DB/SQL compatibil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cap="none" sz="5200"/>
            </a:lvl1pPr>
          </a:lstStyle>
          <a:p>
            <a:pPr/>
            <a:r>
              <a:t>DB/SQL compatibility</a:t>
            </a:r>
          </a:p>
        </p:txBody>
      </p:sp>
      <p:sp>
        <p:nvSpPr>
          <p:cNvPr id="148" name="Missing tables, columns: ignore.js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Missing tables, columns: ignore.json</a:t>
            </a:r>
          </a:p>
          <a:p>
            <a:pPr/>
            <a:r>
              <a:t>Name mismatch: query all available tables, build the mapping cache</a:t>
            </a:r>
          </a:p>
          <a:p>
            <a:pPr/>
            <a:r>
              <a:t>Data types conversion</a:t>
            </a:r>
          </a:p>
        </p:txBody>
      </p:sp>
      <p:pic>
        <p:nvPicPr>
          <p:cNvPr id="149" name="Oracle_SQL_Developer-Logo.wine.png" descr="Oracle_SQL_Developer-Logo.win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667264" y="8503090"/>
            <a:ext cx="8188381" cy="5458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Oracle_SQL_Developer-Logo.wine.png" descr="Oracle_SQL_Developer-Logo.win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667264" y="8503090"/>
            <a:ext cx="8188381" cy="54589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51993" y="582305"/>
            <a:ext cx="10880014" cy="125513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hat is my external I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cap="none" sz="5200"/>
            </a:lvl1pPr>
          </a:lstStyle>
          <a:p>
            <a:pPr/>
            <a:r>
              <a:t>What is my external IP?</a:t>
            </a:r>
          </a:p>
        </p:txBody>
      </p:sp>
      <p:sp>
        <p:nvSpPr>
          <p:cNvPr id="155" name="AppRunner URL: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AppRunner URL: </a:t>
            </a:r>
          </a:p>
        </p:txBody>
      </p:sp>
      <p:pic>
        <p:nvPicPr>
          <p:cNvPr id="156" name="vector.png" descr="vecto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39343" y="8513491"/>
            <a:ext cx="5676901" cy="4381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Haproxy/Utopia timeout: Sync -&gt; Async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cap="none" sz="5200"/>
            </a:lvl1pPr>
          </a:lstStyle>
          <a:p>
            <a:pPr/>
            <a:r>
              <a:t>Haproxy/Utopia timeout: Sync -&gt; Async</a:t>
            </a:r>
          </a:p>
        </p:txBody>
      </p:sp>
      <p:sp>
        <p:nvSpPr>
          <p:cNvPr id="159" name="Option 1: update haproxy timeout limit"/>
          <p:cNvSpPr txBox="1"/>
          <p:nvPr>
            <p:ph type="body" sz="half" idx="1"/>
          </p:nvPr>
        </p:nvSpPr>
        <p:spPr>
          <a:xfrm>
            <a:off x="673100" y="3835400"/>
            <a:ext cx="23050500" cy="3287504"/>
          </a:xfrm>
          <a:prstGeom prst="rect">
            <a:avLst/>
          </a:prstGeom>
        </p:spPr>
        <p:txBody>
          <a:bodyPr/>
          <a:lstStyle/>
          <a:p>
            <a:pPr/>
            <a:r>
              <a:t>Option 1: update haproxy timeout limit </a:t>
            </a:r>
          </a:p>
        </p:txBody>
      </p:sp>
      <p:pic>
        <p:nvPicPr>
          <p:cNvPr id="160" name="Haproxy-logo.png" descr="Haproxy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015289" y="8459595"/>
            <a:ext cx="6334829" cy="49773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Haproxy/Utopia timeout: Sync -&gt; Async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cap="none" sz="5200"/>
            </a:lvl1pPr>
          </a:lstStyle>
          <a:p>
            <a:pPr/>
            <a:r>
              <a:t>Haproxy/Utopia timeout: Sync -&gt; Async</a:t>
            </a:r>
          </a:p>
        </p:txBody>
      </p:sp>
      <p:sp>
        <p:nvSpPr>
          <p:cNvPr id="163" name="Option 2: API sync -&gt; async, Flask background task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Option 2: API sync -&gt; async, Flask background task</a:t>
            </a:r>
          </a:p>
          <a:p>
            <a:pPr lvl="1"/>
            <a:r>
              <a:t>Use celery: too heavy, require redis/rabbitmq backend</a:t>
            </a:r>
          </a:p>
          <a:p>
            <a:pPr lvl="1"/>
            <a:r>
              <a:t>Threads/Future, unique job id</a:t>
            </a:r>
          </a:p>
        </p:txBody>
      </p:sp>
      <p:pic>
        <p:nvPicPr>
          <p:cNvPr id="164" name="celery_512 (1).png" descr="celery_512 (1)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9933" y="-173955"/>
            <a:ext cx="3284541" cy="32845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1200px-Redis_Logo.svg.png" descr="1200px-Redis_Logo.sv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4442" y="2901020"/>
            <a:ext cx="4595523" cy="15356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multi-threading-1.png" descr="multi-threading-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606595" y="6813569"/>
            <a:ext cx="4358976" cy="64135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hank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535353"/>
      </a:dk1>
      <a:lt1>
        <a:srgbClr val="340053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